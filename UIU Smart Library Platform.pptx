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3C2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3385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0078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6771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3464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156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6849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542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0235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0313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66928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133856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700784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267712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2834640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401568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3968496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4535424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102352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5669280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236208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7040880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658368"/>
            <a:ext cx="566928" cy="566928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8843" y="604876"/>
            <a:ext cx="9000" cy="118872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4876" y="648843"/>
            <a:ext cx="118872" cy="900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15771" y="604876"/>
            <a:ext cx="9000" cy="118872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71804" y="648843"/>
            <a:ext cx="118872" cy="900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8843" y="1171804"/>
            <a:ext cx="9000" cy="118872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4876" y="1215771"/>
            <a:ext cx="118872" cy="900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15771" y="1171804"/>
            <a:ext cx="9000" cy="118872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71804" y="1215771"/>
            <a:ext cx="118872" cy="900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80467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2F2F3"/>
                </a:solidFill>
                <a:latin typeface="Barlow Condensed"/>
              </a:rPr>
              <a:t>UIU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69494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2F3"/>
                </a:solidFill>
                <a:latin typeface="Barlow Condensed"/>
              </a:rPr>
              <a:t>United International 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95097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60">
                <a:solidFill>
                  <a:srgbClr val="F8C99F"/>
                </a:solidFill>
                <a:latin typeface="Consolas"/>
              </a:rPr>
              <a:t>CENTRAL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286000"/>
            <a:ext cx="5852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80" dirty="0">
                <a:solidFill>
                  <a:srgbClr val="F8C99F"/>
                </a:solidFill>
                <a:latin typeface="Consolas"/>
              </a:rPr>
              <a:t>SMART LIBRARY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2651760"/>
            <a:ext cx="5943600" cy="1272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400" b="1" dirty="0">
                <a:solidFill>
                  <a:srgbClr val="F2F2F3"/>
                </a:solidFill>
                <a:latin typeface="Barlow Condensed"/>
              </a:rPr>
              <a:t>Search the shelves.</a:t>
            </a:r>
          </a:p>
          <a:p>
            <a:pPr algn="l">
              <a:lnSpc>
                <a:spcPct val="94000"/>
              </a:lnSpc>
            </a:pPr>
            <a:r>
              <a:rPr sz="4400" b="1" dirty="0">
                <a:solidFill>
                  <a:srgbClr val="F2F2F3"/>
                </a:solidFill>
                <a:latin typeface="Barlow Condensed"/>
              </a:rPr>
              <a:t>Borrow in one step.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1772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dirty="0">
                <a:solidFill>
                  <a:srgbClr val="FFE2C8"/>
                </a:solidFill>
                <a:latin typeface="Barlow"/>
              </a:rPr>
              <a:t>One catalogue for print, e-books, journals and UIU theses — with recommendations drawn only from titles the library actually holds.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5852160" cy="204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00" b="1" dirty="0">
                <a:solidFill>
                  <a:srgbClr val="F2F2F3"/>
                </a:solidFill>
                <a:latin typeface="Barlow Condensed"/>
              </a:rPr>
              <a:t>Team Ascent</a:t>
            </a:r>
            <a:endParaRPr lang="en-US" sz="1400" b="1" dirty="0">
              <a:solidFill>
                <a:srgbClr val="221D19"/>
              </a:solidFill>
              <a:latin typeface="Barlow Condensed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18120" y="2286000"/>
            <a:ext cx="371520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spc="180" dirty="0">
                <a:solidFill>
                  <a:srgbClr val="844F22"/>
                </a:solidFill>
                <a:latin typeface="Consolas"/>
              </a:rPr>
              <a:t>WEB</a:t>
            </a:r>
            <a:r>
              <a:rPr sz="1050" b="0" spc="180" dirty="0">
                <a:solidFill>
                  <a:srgbClr val="844F22"/>
                </a:solidFill>
                <a:latin typeface="Consolas"/>
              </a:rPr>
              <a:t> 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633472"/>
            <a:ext cx="371520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 dirty="0">
                <a:solidFill>
                  <a:srgbClr val="221D19"/>
                </a:solidFill>
                <a:latin typeface="Barlow Condensed"/>
              </a:rPr>
              <a:t>Smart Library</a:t>
            </a:r>
          </a:p>
          <a:p>
            <a:pPr algn="l">
              <a:lnSpc>
                <a:spcPct val="95000"/>
              </a:lnSpc>
            </a:pPr>
            <a:r>
              <a:rPr sz="3800" b="1" dirty="0">
                <a:solidFill>
                  <a:srgbClr val="221D19"/>
                </a:solidFill>
                <a:latin typeface="Barlow Condensed"/>
              </a:rPr>
              <a:t>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3840480"/>
            <a:ext cx="37152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35B52"/>
                </a:solidFill>
                <a:latin typeface="Barlow"/>
              </a:rPr>
              <a:t>A discovery and circulation system for the UIU Central Library.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4526280"/>
            <a:ext cx="1280160" cy="9500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20" y="4800600"/>
            <a:ext cx="371520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0776D"/>
                </a:solidFill>
                <a:latin typeface="Consolas"/>
              </a:rPr>
              <a:t>PRESENTED 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074920"/>
            <a:ext cx="3715207" cy="601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dirty="0" err="1">
                <a:solidFill>
                  <a:srgbClr val="5E3716"/>
                </a:solidFill>
                <a:latin typeface="Barlow Condensed"/>
              </a:rPr>
              <a:t>M</a:t>
            </a:r>
            <a:r>
              <a:rPr lang="en-US" sz="1400" b="1" dirty="0" err="1">
                <a:solidFill>
                  <a:srgbClr val="5E3716"/>
                </a:solidFill>
                <a:latin typeface="Barlow Condensed"/>
              </a:rPr>
              <a:t>ahedi</a:t>
            </a: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 Hasan Sorol</a:t>
            </a:r>
            <a:r>
              <a:rPr sz="1400" b="1" dirty="0">
                <a:solidFill>
                  <a:srgbClr val="5E3716"/>
                </a:solidFill>
                <a:latin typeface="Barlow Condensed"/>
              </a:rPr>
              <a:t>   ·   </a:t>
            </a:r>
            <a:r>
              <a:rPr lang="en-US" sz="1400" b="1" dirty="0" err="1">
                <a:solidFill>
                  <a:srgbClr val="5E3716"/>
                </a:solidFill>
                <a:latin typeface="Barlow Condensed"/>
              </a:rPr>
              <a:t>Mostafizur</a:t>
            </a: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 Rahman Murad</a:t>
            </a:r>
            <a:endParaRPr sz="1400" b="1" dirty="0">
              <a:solidFill>
                <a:srgbClr val="5E3716"/>
              </a:solidFill>
              <a:latin typeface="Barlow Condensed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Md </a:t>
            </a:r>
            <a:r>
              <a:rPr sz="1400" b="1" dirty="0">
                <a:solidFill>
                  <a:srgbClr val="5E3716"/>
                </a:solidFill>
                <a:latin typeface="Barlow Condensed"/>
              </a:rPr>
              <a:t>M</a:t>
            </a: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inhazul Hoque</a:t>
            </a:r>
            <a:r>
              <a:rPr sz="1400" b="1" dirty="0">
                <a:solidFill>
                  <a:srgbClr val="5E3716"/>
                </a:solidFill>
                <a:latin typeface="Barlow Condensed"/>
              </a:rPr>
              <a:t> </a:t>
            </a: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 </a:t>
            </a:r>
            <a:r>
              <a:rPr sz="1400" b="1" dirty="0">
                <a:solidFill>
                  <a:srgbClr val="5E3716"/>
                </a:solidFill>
                <a:latin typeface="Barlow Condensed"/>
              </a:rPr>
              <a:t>  ·   </a:t>
            </a:r>
            <a:r>
              <a:rPr lang="en-US" sz="1400" b="1" dirty="0">
                <a:solidFill>
                  <a:srgbClr val="5E3716"/>
                </a:solidFill>
                <a:latin typeface="Barlow Condensed"/>
              </a:rPr>
              <a:t>Rafsan Hossen </a:t>
            </a:r>
            <a:r>
              <a:rPr lang="en-US" sz="1400" b="1" dirty="0" err="1">
                <a:solidFill>
                  <a:srgbClr val="5E3716"/>
                </a:solidFill>
                <a:latin typeface="Barlow Condensed"/>
              </a:rPr>
              <a:t>Basunia</a:t>
            </a:r>
            <a:endParaRPr sz="1400" b="1" dirty="0">
              <a:solidFill>
                <a:srgbClr val="5E3716"/>
              </a:solidFill>
              <a:latin typeface="Barlow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01  ·  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What we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27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35B52"/>
                </a:solidFill>
                <a:latin typeface="Barlow"/>
              </a:rPr>
              <a:t>A single place for UIU students to find, borrow and keep track of everything the library holds — print, e-books, journals and theses.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75688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21D19"/>
                </a:solidFill>
                <a:latin typeface="Barlow"/>
              </a:rPr>
              <a:t>The UIU Central Library holds over 42,000 titles, but students still search a catalogue that does not tell them whether a copy is on the shelf, where to find it, or what to read next.</a:t>
            </a:r>
          </a:p>
          <a:p>
            <a:pPr algn="l">
              <a:lnSpc>
                <a:spcPct val="155000"/>
              </a:lnSpc>
            </a:pPr>
            <a:endParaRPr sz="1300" b="0">
              <a:solidFill>
                <a:srgbClr val="221D19"/>
              </a:solidFill>
              <a:latin typeface="Barlow"/>
            </a:endParaRP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21D19"/>
                </a:solidFill>
                <a:latin typeface="Barlow"/>
              </a:rPr>
              <a:t>Smart Library Platform replaces that with one discovery layer: live availability down to the individual copy, one-step reserving, and recommendations drawn only from titles the library actually owns.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315968"/>
            <a:ext cx="1883664" cy="841248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8843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4876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32507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88540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8843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876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32507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8540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434840"/>
            <a:ext cx="15910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221D19"/>
                </a:solidFill>
                <a:latin typeface="Barlow Condensed"/>
              </a:rPr>
              <a:t>42,180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828032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90">
                <a:solidFill>
                  <a:srgbClr val="80776D"/>
                </a:solidFill>
                <a:latin typeface="Consolas"/>
              </a:rPr>
              <a:t>TITLES HELD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88336" y="4315968"/>
            <a:ext cx="1883664" cy="841248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78811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34844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62475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18508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8811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34844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62475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18508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4434840"/>
            <a:ext cx="15910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221D19"/>
                </a:solidFill>
                <a:latin typeface="Barlow Condensed"/>
              </a:rPr>
              <a:t>61,904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828032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90">
                <a:solidFill>
                  <a:srgbClr val="80776D"/>
                </a:solidFill>
                <a:latin typeface="Consolas"/>
              </a:rPr>
              <a:t>COPIES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8304" y="4315968"/>
            <a:ext cx="1883664" cy="841248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8779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4812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92443" y="42624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48476" y="43064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08779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4812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92443" y="51037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48476" y="51476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64608" y="4434840"/>
            <a:ext cx="159105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221D19"/>
                </a:solidFill>
                <a:latin typeface="Barlow Condensed"/>
              </a:rPr>
              <a:t>4,880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4828032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90">
                <a:solidFill>
                  <a:srgbClr val="80776D"/>
                </a:solidFill>
                <a:latin typeface="Consolas"/>
              </a:rPr>
              <a:t>STUDENTS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2075688"/>
            <a:ext cx="4474159" cy="3520440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49643" y="20221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05676" y="20661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523802" y="20221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79835" y="20661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049643" y="554263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005676" y="558660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523802" y="554263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79835" y="558660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33488" y="2304288"/>
            <a:ext cx="39255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IN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3488" y="26883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2642616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Unified catalogue 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7536" y="2843784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Print, e-books, journals, UIU theses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325526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7536" y="3209544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Circulation self-service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17536" y="3410712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Reserve, renew, hold queues, returns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3488" y="382219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7536" y="3776472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Personal recommendations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17536" y="3977640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From borrowing history and interests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438912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17536" y="4343400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Facilities &amp; account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17536" y="4544568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Study rooms, fines, notifications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33488" y="495604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7536" y="4910328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Staff back office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7536" y="5111496"/>
            <a:ext cx="35414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Catalogue admin, circulation desk, reports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PROJECT DESCRIPTION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1   ·   01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02  ·  PROBLEM &amp;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27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35B52"/>
                </a:solidFill>
                <a:latin typeface="Barlow"/>
              </a:rPr>
              <a:t>Three roles, one system — each sees only what it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21408"/>
            <a:ext cx="3503066" cy="2286000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51909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07942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51909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7942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368296"/>
            <a:ext cx="299100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40">
                <a:solidFill>
                  <a:srgbClr val="844F22"/>
                </a:solidFill>
                <a:latin typeface="Consolas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42616"/>
            <a:ext cx="299100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1D19"/>
                </a:solidFill>
                <a:latin typeface="Barlow Condensed"/>
              </a:rPr>
              <a:t>Undergraduate &amp; postgraduate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299100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Search, borrow, renew, book a study room, track fines and get recommendations. 5 items for 14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4314" y="2121408"/>
            <a:ext cx="3503066" cy="2286000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34789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0822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37855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93888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34789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0822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37855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93888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0346" y="2368296"/>
            <a:ext cx="299100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40">
                <a:solidFill>
                  <a:srgbClr val="844F22"/>
                </a:solidFill>
                <a:latin typeface="Consolas"/>
              </a:rPr>
              <a:t>FACULTY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346" y="2642616"/>
            <a:ext cx="299100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1D19"/>
                </a:solidFill>
                <a:latin typeface="Barlow Condensed"/>
              </a:rPr>
              <a:t>Teaching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0346" y="3008376"/>
            <a:ext cx="299100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Everything a student can do, plus course reserves and longer loan periods for teaching material.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0260" y="2121408"/>
            <a:ext cx="3503066" cy="2286000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20735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76768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523801" y="2067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79834" y="2111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20735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76768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523801" y="435391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79834" y="439788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6292" y="2368296"/>
            <a:ext cx="299100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40">
                <a:solidFill>
                  <a:srgbClr val="844F22"/>
                </a:solidFill>
                <a:latin typeface="Consolas"/>
              </a:rPr>
              <a:t>LIBRARY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292" y="2642616"/>
            <a:ext cx="299100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1D19"/>
                </a:solidFill>
                <a:latin typeface="Barlow Condensed"/>
              </a:rPr>
              <a:t>Circulation &amp; technical services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292" y="3008376"/>
            <a:ext cx="299100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Issue and accept returns at the desk, manage the catalogue, action hold queues and read reports.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817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0776D"/>
                </a:solidFill>
                <a:latin typeface="Consolas"/>
              </a:rPr>
              <a:t>THE PROBLEM TODAY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84064"/>
            <a:ext cx="82296" cy="82296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6112" y="5029200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1D19"/>
                </a:solidFill>
                <a:latin typeface="Barlow"/>
              </a:rPr>
              <a:t>No live availability — students walk to the shelf to find out.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413248"/>
            <a:ext cx="82296" cy="82296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35838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1D19"/>
                </a:solidFill>
                <a:latin typeface="Barlow"/>
              </a:rPr>
              <a:t>No way to reserve; first to arrive wins.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742432"/>
            <a:ext cx="82296" cy="82296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" y="568756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1D19"/>
                </a:solidFill>
                <a:latin typeface="Barlow"/>
              </a:rPr>
              <a:t>Nothing suggests what to read next.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6071616"/>
            <a:ext cx="82296" cy="82296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601675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21D19"/>
                </a:solidFill>
                <a:latin typeface="Barlow"/>
              </a:rPr>
              <a:t>Fines and due dates are only visible at the desk.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PROBLEM &amp; 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1   ·   02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03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How the pieces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27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35B52"/>
                </a:solidFill>
                <a:latin typeface="Barlow"/>
              </a:rPr>
              <a:t>A single Next.js application talking to a Node API layer, with Supabase providing Postgres, auth and file storage.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8067" y="2212848"/>
            <a:ext cx="2880360" cy="2377440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854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457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6890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2493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854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457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6890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2493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5811" y="2441448"/>
            <a:ext cx="2404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5811" y="2715768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221D19"/>
                </a:solidFill>
                <a:latin typeface="Barlow Condensed"/>
              </a:rPr>
              <a:t>Next.js (React)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811" y="3172968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App Router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5811" y="3483864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Server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5811" y="3794760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Tailwind UI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4731" y="3218688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A86A34"/>
                </a:solidFill>
                <a:latin typeface="Barlow Condensed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5667" y="2212848"/>
            <a:ext cx="2880360" cy="2377440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4614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0217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2650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8253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4614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0217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2650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8253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3411" y="2441448"/>
            <a:ext cx="2404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3411" y="2715768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221D19"/>
                </a:solidFill>
                <a:latin typeface="Barlow Condensed"/>
              </a:rPr>
              <a:t>Node.js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3411" y="3172968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REST route handlers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3411" y="3483864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Search &amp;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3411" y="3794760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Business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2331" y="3218688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A86A34"/>
                </a:solidFill>
                <a:latin typeface="Barlow Condensed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3267" y="2212848"/>
            <a:ext cx="2880360" cy="2377440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0374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5977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184102" y="215935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1140135" y="220332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0374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5977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184102" y="45367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140135" y="45807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51011" y="2441448"/>
            <a:ext cx="2404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1011" y="2715768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221D19"/>
                </a:solidFill>
                <a:latin typeface="Barlow Condensed"/>
              </a:rPr>
              <a:t>Supabase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1011" y="3172968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Postgres catalogue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51011" y="3483864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Auth &amp; RLS policies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1011" y="3794760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35B52"/>
                </a:solidFill>
                <a:latin typeface="Barlow"/>
              </a:rPr>
              <a:t>Storage for covers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86460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0776D"/>
                </a:solidFill>
                <a:latin typeface="Consolas"/>
              </a:rPr>
              <a:t>REQUEST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193792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1D19"/>
                </a:solidFill>
                <a:latin typeface="Barlow"/>
              </a:rPr>
              <a:t>Student searches  →  Next.js server component calls the Node API  →  API queries Postgres for copies and availability  →  ranked results return with live shelf status  →  reserve writes a hold row and notifies the desk.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1   ·   03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04  ·  TOOLS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What we are building it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27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35B52"/>
                </a:solidFill>
                <a:latin typeface="Barlow"/>
              </a:rPr>
              <a:t>Chosen for speed of delivery and because the whole team can work in one language across the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67128"/>
            <a:ext cx="10874959" cy="786384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211363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215760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3802" y="211363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9835" y="215760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290002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294398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23802" y="290002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79835" y="294398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3134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1D19"/>
                </a:solidFill>
                <a:latin typeface="Barlow Condensed"/>
              </a:rPr>
              <a:t>Next.js  ·  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386584"/>
            <a:ext cx="7400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35B52"/>
                </a:solidFill>
                <a:latin typeface="Barlow"/>
              </a:rPr>
              <a:t>App Router, server components and file-based routing. React keeps the component model consistent with the prototype we designed.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99816"/>
            <a:ext cx="10874959" cy="786384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8843" y="30463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4876" y="30902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23802" y="304632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479835" y="309029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8843" y="383270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4876" y="387667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523802" y="383270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79835" y="387667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2461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838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1D19"/>
                </a:solidFill>
                <a:latin typeface="Barlow Condensed"/>
              </a:rP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319272"/>
            <a:ext cx="7400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35B52"/>
                </a:solidFill>
                <a:latin typeface="Barlow"/>
              </a:rPr>
              <a:t>REST API handling search ranking, circulation rules, hold queues and the recommendation engine.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32504"/>
            <a:ext cx="10874959" cy="786384"/>
          </a:xfrm>
          <a:prstGeom prst="rect">
            <a:avLst/>
          </a:prstGeom>
          <a:solidFill>
            <a:srgbClr val="FFF3E7"/>
          </a:solidFill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8843" y="3979012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4876" y="4022979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523802" y="3979012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79835" y="4022979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8843" y="47653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4876" y="48093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523802" y="476539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79835" y="480936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17880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16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1D19"/>
                </a:solidFill>
                <a:latin typeface="Barlow Condensed"/>
              </a:rPr>
              <a:t>Supabase  ·  Postgres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4251960"/>
            <a:ext cx="7400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35B52"/>
                </a:solidFill>
                <a:latin typeface="Barlow"/>
              </a:rPr>
              <a:t>Relational catalogue with row-level security. Supabase Auth handles UIU single sign-on; Storage holds cover art.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965192"/>
            <a:ext cx="10874959" cy="78638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8843" y="491170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4876" y="495566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523802" y="491170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79835" y="495566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8843" y="569808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4876" y="574205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523802" y="5698084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79835" y="5742051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511149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TOOLING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3492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21D19"/>
                </a:solidFill>
                <a:latin typeface="Barlow Condensed"/>
              </a:rPr>
              <a:t>TypeScript  ·  Tailwind  ·  Figma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58768" y="5184648"/>
            <a:ext cx="7400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35B52"/>
                </a:solidFill>
                <a:latin typeface="Barlow"/>
              </a:rPr>
              <a:t>Typed end to end, styled from design tokens, with the interface prototyped in Figma first.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TOOLS &amp; 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2   ·   04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05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Sign in &amp; search the catalogue</a:t>
            </a:r>
          </a:p>
        </p:txBody>
      </p:sp>
      <p:pic>
        <p:nvPicPr>
          <p:cNvPr id="5" name="Picture 4" descr="_crop_03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ONE SIGN-ON, ONE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UIU single sign-on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Same credentials as UCAM — student, faculty or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Search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Print, e-books, journals and UIU theses in one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Filter as you 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Format, availability, subject, location, language,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Live shelf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Every result shows copies free and where they 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Saved searches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Keep course reserve lists one click 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AUTHENTICATION &amp;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2   ·   05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06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Book detail &amp; reserving</a:t>
            </a:r>
          </a:p>
        </p:txBody>
      </p:sp>
      <p:pic>
        <p:nvPicPr>
          <p:cNvPr id="5" name="Picture 4" descr="_crop_04-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COPY-LEVEL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Every copy listed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Accession number, shelf, type and due-back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Shelf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Highlights the exact bay so you can walk straight to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One-step reserve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Held 48 hours at the desk, or read instantly if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Reader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Distribution and reviews from other UIU students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Ready-made citation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APA 7 and BibTeX, copied in one click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BOOK DETAIL &amp; RESERVING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2   ·   06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07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Loans, holds &amp; renewals</a:t>
            </a:r>
          </a:p>
        </p:txBody>
      </p:sp>
      <p:pic>
        <p:nvPicPr>
          <p:cNvPr id="5" name="Picture 4" descr="_crop_05-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NEVER MISS A DUE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14-day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Due dates, overdue items and hold expiry at a glance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Renew in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Twice per item, unless another reader is 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Hold queue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See exactly where you are and the estimated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Pickup reminders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Alerts when a reserved copy reaches the 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Borrowing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Feeds recommendations; clearable any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LOANS &amp; HOLDS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3   ·   07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08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Personal recommendations</a:t>
            </a:r>
          </a:p>
        </p:txBody>
      </p:sp>
      <p:pic>
        <p:nvPicPr>
          <p:cNvPr id="5" name="Picture 4" descr="_crop_06-recomme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ONLY WHAT WE ACTUALLY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Four ranking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History 42%, interests 26%, courses 18%, trends 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Grouped by 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“Because you borrowed…”, trending, similar readers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Always explained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Every suggestion says why it is being shown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Tune the mix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Balanced, close to my reading, or surprise 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Rate to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Returned books feed straight back into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3   ·   08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09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Reading lists &amp; bookmarks</a:t>
            </a:r>
          </a:p>
        </p:txBody>
      </p:sp>
      <p:pic>
        <p:nvPicPr>
          <p:cNvPr id="5" name="Picture 4" descr="_crop_07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ORGANISE BY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Build your own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Course reading, thesis sources, holiday picks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Import a course outline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Pulls the reserve list for an enrolled 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Share by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Private by default; share with a course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Track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See how much of each list you have 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Quick bookmarks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Save now, sort into a list later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READING LISTS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3   ·   09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10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Study rooms &amp; live occupancy</a:t>
            </a:r>
          </a:p>
        </p:txBody>
      </p:sp>
      <p:pic>
        <p:nvPicPr>
          <p:cNvPr id="5" name="Picture 4" descr="_crop_08-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537960" cy="37025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6537960" cy="3702574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680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283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86803" y="5221850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2836" y="5265817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1572768"/>
            <a:ext cx="3879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BOOK BEFORE YOU WALK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0025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95681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Six bookable 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1579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Two-hour slots between 9:00 and 21:00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60904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615184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Live seat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8163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68 of 120 seats in the reading hall right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3319272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273552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Floor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4747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Shows zones, stacks and which rooms are 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397764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3931920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Busiest-hour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6" y="41330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Plan around the 17:00–19:00 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4636008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590288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Auto-release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4791456"/>
            <a:ext cx="34957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Slots free up if nobody checks in within 15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STUDY ROOMS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4   ·   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11  · 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Fines, payments &amp; notifications</a:t>
            </a:r>
          </a:p>
        </p:txBody>
      </p:sp>
      <p:pic>
        <p:nvPicPr>
          <p:cNvPr id="5" name="Picture 4" descr="_crop_09-f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208879" cy="2787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5208879" cy="2787112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7722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3755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430638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435035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7722" y="430638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3755" y="435035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_crop_10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572768"/>
            <a:ext cx="5208879" cy="27871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24447" y="1572768"/>
            <a:ext cx="5208879" cy="2787112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4922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0955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23801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9834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14922" y="430638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0955" y="435035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523801" y="430638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79834" y="435035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590288"/>
            <a:ext cx="350306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30">
                <a:solidFill>
                  <a:srgbClr val="844F22"/>
                </a:solidFill>
                <a:latin typeface="Consolas"/>
              </a:rPr>
              <a:t>TRANSPARENT CHARGES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882896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৳10 per item per day, shown the moment it is posted. Full ledger of every charge, payment and waiver.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4314" y="4590288"/>
            <a:ext cx="350306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30">
                <a:solidFill>
                  <a:srgbClr val="844F22"/>
                </a:solidFill>
                <a:latin typeface="Consolas"/>
              </a:rPr>
              <a:t>PAY FROM ANYWHERE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4314" y="4882896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bKash, Nagad or card — no queue at the desk. Clearance status shows what is blocking semester sign-off.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0260" y="4590288"/>
            <a:ext cx="350306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30">
                <a:solidFill>
                  <a:srgbClr val="844F22"/>
                </a:solidFill>
                <a:latin typeface="Consolas"/>
              </a:rPr>
              <a:t>ALERTS THAT PREVENT FINES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0260" y="4882896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635B52"/>
                </a:solidFill>
                <a:latin typeface="Barlow"/>
              </a:rPr>
              <a:t>Due-date reminders three days ahead, pickup alerts and new-arrival notices by app, email or SMS.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FINES &amp;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4   ·   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60">
                <a:solidFill>
                  <a:srgbClr val="844F22"/>
                </a:solidFill>
                <a:latin typeface="Consolas"/>
              </a:rPr>
              <a:t>12  ·  FEATURE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1D19"/>
                </a:solidFill>
                <a:latin typeface="Barlow Condensed"/>
              </a:rPr>
              <a:t>Profile, privacy &amp; what comes next</a:t>
            </a:r>
          </a:p>
        </p:txBody>
      </p:sp>
      <p:pic>
        <p:nvPicPr>
          <p:cNvPr id="5" name="Picture 4" descr="_crop_11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669280" cy="32913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" y="1572768"/>
            <a:ext cx="5669280" cy="3291332"/>
          </a:xfrm>
          <a:prstGeom prst="rect">
            <a:avLst/>
          </a:prstGeom>
          <a:noFill/>
          <a:ln w="9525">
            <a:solidFill>
              <a:srgbClr val="C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84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487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18123" y="1519276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4156" y="1563243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843" y="481060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4876" y="485457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18123" y="4810608"/>
            <a:ext cx="9000" cy="118872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4156" y="4854575"/>
            <a:ext cx="118872" cy="9000"/>
          </a:xfrm>
          <a:prstGeom prst="rect">
            <a:avLst/>
          </a:prstGeom>
          <a:solidFill>
            <a:srgbClr val="221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1572768"/>
            <a:ext cx="4748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44F22"/>
                </a:solidFill>
                <a:latin typeface="Consolas"/>
              </a:rPr>
              <a:t>YOU CONTROL THE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195681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1911096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16 interest topics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112264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Pick what gets weighted highest for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50545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2459736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Recommendation switches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2660904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Turn history or campus trends off entirely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05409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3008376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Clear your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209544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Nothing is shared with other readers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602736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80">
                <a:solidFill>
                  <a:srgbClr val="A86A34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557016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221D19"/>
                </a:solidFill>
                <a:latin typeface="Barlow Condensed"/>
              </a:rPr>
              <a:t>Course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3758184"/>
            <a:ext cx="43644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35B52"/>
                </a:solidFill>
                <a:latin typeface="Barlow"/>
              </a:rPr>
              <a:t>Reserves follow the courses you are enrolled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270248"/>
            <a:ext cx="4748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40">
                <a:solidFill>
                  <a:srgbClr val="80776D"/>
                </a:solidFill>
                <a:latin typeface="Consolas"/>
              </a:rPr>
              <a:t>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4562856"/>
            <a:ext cx="47484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35B52"/>
                </a:solidFill>
                <a:latin typeface="Barlow"/>
              </a:rPr>
              <a:t>Mobile app with barcode scanning  ·  offline e-book reader  ·  inter-library loans with other Dhaka universities.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spc="120">
                <a:solidFill>
                  <a:srgbClr val="80776D"/>
                </a:solidFill>
                <a:latin typeface="Consolas"/>
              </a:rPr>
              <a:t>PROFILE &amp;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5727" y="638251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120">
                <a:solidFill>
                  <a:srgbClr val="80776D"/>
                </a:solidFill>
                <a:latin typeface="Consolas"/>
              </a:rPr>
              <a:t>Member 4   ·   12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2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3385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0078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6771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3464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156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6849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542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0235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0313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7006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3699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0392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7084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37776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04704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71632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338560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905488" y="0"/>
            <a:ext cx="6000" cy="6858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566928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1133856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1700784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2267712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2834640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3401568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3968496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535424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5102352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5669280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6236208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12191695" cy="6000"/>
          </a:xfrm>
          <a:prstGeom prst="rect">
            <a:avLst/>
          </a:prstGeom>
          <a:solidFill>
            <a:srgbClr val="5E3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2377440"/>
            <a:ext cx="1087495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spc="180" dirty="0">
                <a:solidFill>
                  <a:srgbClr val="F8C99F"/>
                </a:solidFill>
                <a:latin typeface="Consolas"/>
              </a:rPr>
              <a:t>SMART LIBRARY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788920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F2F2F3"/>
                </a:solidFill>
                <a:latin typeface="Barlow Condensed"/>
              </a:rPr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88620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FFE2C8"/>
                </a:solidFill>
                <a:latin typeface="Barlow"/>
              </a:rPr>
              <a:t>Questions welcome.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5767" y="4526280"/>
            <a:ext cx="1280160" cy="9500"/>
          </a:xfrm>
          <a:prstGeom prst="rect">
            <a:avLst/>
          </a:prstGeom>
          <a:solidFill>
            <a:srgbClr val="A86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892040"/>
            <a:ext cx="108749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 dirty="0">
                <a:solidFill>
                  <a:srgbClr val="F8C99F"/>
                </a:solidFill>
                <a:latin typeface="Barlow Condensed"/>
              </a:rPr>
              <a:t>Team Ascent</a:t>
            </a:r>
            <a:endParaRPr sz="1300" b="1" dirty="0">
              <a:solidFill>
                <a:srgbClr val="F8C99F"/>
              </a:solidFill>
              <a:latin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1327</Words>
  <Application>Microsoft Office PowerPoint</Application>
  <PresentationFormat>Widescreen</PresentationFormat>
  <Paragraphs>258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Barlow</vt:lpstr>
      <vt:lpstr>Barlow Condensed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Stuart Rafsan</cp:lastModifiedBy>
  <cp:revision>2</cp:revision>
  <dcterms:created xsi:type="dcterms:W3CDTF">2013-01-27T09:14:16Z</dcterms:created>
  <dcterms:modified xsi:type="dcterms:W3CDTF">2026-08-03T04:16:39Z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2026-08-03T04:16:37Z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78376744-4d6d-4d43-93f3-e05efe68cd95</vt:lpwstr>
  </property>
  <property fmtid="{D5CDD505-2E9C-101B-9397-08002B2CF9AE}" pid="7" name="MSIP_Label_defa4170-0d19-0005-0004-bc88714345d2_ActionId">
    <vt:lpwstr>05d8efa0-7bd0-4701-a5aa-956a5bd4de3a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